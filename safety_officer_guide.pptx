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Shape 1"/>
          <p:cNvSpPr/>
          <p:nvPr/>
        </p:nvSpPr>
        <p:spPr>
          <a:xfrm>
            <a:off x="7132320" y="-1097280"/>
            <a:ext cx="3200400" cy="3200400"/>
          </a:xfrm>
          <a:prstGeom prst="ellipse">
            <a:avLst/>
          </a:prstGeom>
          <a:solidFill>
            <a:srgbClr val="166534"/>
          </a:solidFill>
          <a:ln/>
        </p:spPr>
      </p:sp>
      <p:sp>
        <p:nvSpPr>
          <p:cNvPr id="4" name="Shape 2"/>
          <p:cNvSpPr/>
          <p:nvPr/>
        </p:nvSpPr>
        <p:spPr>
          <a:xfrm>
            <a:off x="7589520" y="-640080"/>
            <a:ext cx="2286000" cy="2286000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5" name="Shape 3"/>
          <p:cNvSpPr/>
          <p:nvPr/>
        </p:nvSpPr>
        <p:spPr>
          <a:xfrm>
            <a:off x="0" y="4617720"/>
            <a:ext cx="9144000" cy="5257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1005840"/>
            <a:ext cx="2560320" cy="320040"/>
          </a:xfrm>
          <a:prstGeom prst="rect">
            <a:avLst>
              <a:gd name="adj" fmla="val 11429"/>
            </a:avLst>
          </a:prstGeom>
          <a:solidFill>
            <a:srgbClr val="16A34A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100584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NSH SYSTEM  —  USER GUIDE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11480" y="1463040"/>
            <a:ext cx="6858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Safety Officer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 Portal Guide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411480" y="3246120"/>
            <a:ext cx="6400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CF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Step-by-step instructions for: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DCF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  ·  Observations  ·  JSO  ·  TBT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11480" y="4617720"/>
            <a:ext cx="8321040" cy="5257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Safety Officers  |  Confidential — Internal Use Only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321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Navigation Menu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11480" y="658368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you log in as a Safety Officer, the top navigation bar shows these links: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11480" y="1051560"/>
            <a:ext cx="8321040" cy="475488"/>
          </a:xfrm>
          <a:prstGeom prst="rect">
            <a:avLst>
              <a:gd name="adj" fmla="val 11538"/>
            </a:avLst>
          </a:prstGeom>
          <a:solidFill>
            <a:srgbClr val="1B4332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051560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📍 My Location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029968" y="1051560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493008" y="1051560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315968" y="1051560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TBT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956048" y="1051560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PTW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87568" y="1051560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CAs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693408" y="1051560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out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11480" y="1691640"/>
            <a:ext cx="1965960" cy="3154680"/>
          </a:xfrm>
          <a:prstGeom prst="rect">
            <a:avLst>
              <a:gd name="adj" fmla="val 3721"/>
            </a:avLst>
          </a:prstGeom>
          <a:solidFill>
            <a:srgbClr val="FEF3C7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1480" y="178308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📍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411480" y="2331720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My Location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2715768"/>
            <a:ext cx="1691640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7" name="Text 15"/>
          <p:cNvSpPr/>
          <p:nvPr/>
        </p:nvSpPr>
        <p:spPr>
          <a:xfrm>
            <a:off x="521208" y="2788920"/>
            <a:ext cx="175564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where you are on-site every day. Shows your Package, Unit, and nearest supervisor.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2514600" y="1691640"/>
            <a:ext cx="1965960" cy="3154680"/>
          </a:xfrm>
          <a:prstGeom prst="rect">
            <a:avLst>
              <a:gd name="adj" fmla="val 3721"/>
            </a:avLst>
          </a:prstGeom>
          <a:solidFill>
            <a:srgbClr val="EFF6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178308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👁️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2514600" y="2331720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D4E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Observations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2651760" y="2715768"/>
            <a:ext cx="1691640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2" name="Text 20"/>
          <p:cNvSpPr/>
          <p:nvPr/>
        </p:nvSpPr>
        <p:spPr>
          <a:xfrm>
            <a:off x="2624328" y="2788920"/>
            <a:ext cx="175564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unsafe acts, unsafe conditions, or positive observations. Track open &amp; closed items.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617720" y="1691640"/>
            <a:ext cx="1965960" cy="3154680"/>
          </a:xfrm>
          <a:prstGeom prst="rect">
            <a:avLst>
              <a:gd name="adj" fmla="val 3721"/>
            </a:avLst>
          </a:prstGeom>
          <a:solidFill>
            <a:srgbClr val="DCFCE7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617720" y="178308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📄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4617720" y="2331720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JSO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4754880" y="2715768"/>
            <a:ext cx="1691640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7" name="Text 25"/>
          <p:cNvSpPr/>
          <p:nvPr/>
        </p:nvSpPr>
        <p:spPr>
          <a:xfrm>
            <a:off x="4727448" y="2788920"/>
            <a:ext cx="175564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Job Safety Observation closures with a JSO number, location, action taken, and photo.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720840" y="1691640"/>
            <a:ext cx="1965960" cy="3154680"/>
          </a:xfrm>
          <a:prstGeom prst="rect">
            <a:avLst>
              <a:gd name="adj" fmla="val 3721"/>
            </a:avLst>
          </a:prstGeom>
          <a:solidFill>
            <a:srgbClr val="F5F3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720840" y="178308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💬</a:t>
            </a:r>
            <a:endParaRPr lang="en-US" sz="2400" dirty="0"/>
          </a:p>
        </p:txBody>
      </p:sp>
      <p:sp>
        <p:nvSpPr>
          <p:cNvPr id="30" name="Text 28"/>
          <p:cNvSpPr/>
          <p:nvPr/>
        </p:nvSpPr>
        <p:spPr>
          <a:xfrm>
            <a:off x="6720840" y="2331720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C3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TBT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6858000" y="2715768"/>
            <a:ext cx="1691640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32" name="Text 30"/>
          <p:cNvSpPr/>
          <p:nvPr/>
        </p:nvSpPr>
        <p:spPr>
          <a:xfrm>
            <a:off x="6830568" y="2788920"/>
            <a:ext cx="175564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Toolbox Talk records. Add topic, attendees by badge number, and sign-in photo.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3200400" cy="5143500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4" name="Text 2"/>
          <p:cNvSpPr/>
          <p:nvPr/>
        </p:nvSpPr>
        <p:spPr>
          <a:xfrm>
            <a:off x="182880" y="27432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</a:rPr>
              <a:t>📍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82880" y="100584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My</a:t>
            </a:r>
            <a:endParaRPr lang="en-US" sz="2600" dirty="0"/>
          </a:p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Location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82880" y="2057400"/>
            <a:ext cx="2834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CF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your exact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DCF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area every day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DCF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supervisors know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DCF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position on site.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82880" y="3520440"/>
            <a:ext cx="2834640" cy="1417320"/>
          </a:xfrm>
          <a:prstGeom prst="rect">
            <a:avLst>
              <a:gd name="adj" fmla="val 3871"/>
            </a:avLst>
          </a:prstGeom>
          <a:solidFill>
            <a:srgbClr val="F59E0B"/>
          </a:solidFill>
          <a:ln/>
        </p:spPr>
      </p:sp>
      <p:sp>
        <p:nvSpPr>
          <p:cNvPr id="8" name="Text 6"/>
          <p:cNvSpPr/>
          <p:nvPr/>
        </p:nvSpPr>
        <p:spPr>
          <a:xfrm>
            <a:off x="182880" y="3520440"/>
            <a:ext cx="28346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 Do this first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morning before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starting any activity.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383280" y="20116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to Register Your Location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3383280" y="704088"/>
            <a:ext cx="301752" cy="301752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3383280" y="704088"/>
            <a:ext cx="3017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749040" y="685800"/>
            <a:ext cx="5166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"📍 My Location"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749040" y="932688"/>
            <a:ext cx="5166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it in the top navigation bar (highlighted in amber).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483864" y="1014984"/>
            <a:ext cx="18288" cy="36576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5" name="Shape 13"/>
          <p:cNvSpPr/>
          <p:nvPr/>
        </p:nvSpPr>
        <p:spPr>
          <a:xfrm>
            <a:off x="3383280" y="1408176"/>
            <a:ext cx="301752" cy="301752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16" name="Text 14"/>
          <p:cNvSpPr/>
          <p:nvPr/>
        </p:nvSpPr>
        <p:spPr>
          <a:xfrm>
            <a:off x="3383280" y="1408176"/>
            <a:ext cx="3017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749040" y="1389888"/>
            <a:ext cx="5166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Package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749040" y="1636776"/>
            <a:ext cx="5166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PKG 2 or PKG 3 from the dropdown.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483864" y="1719072"/>
            <a:ext cx="18288" cy="36576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0" name="Shape 18"/>
          <p:cNvSpPr/>
          <p:nvPr/>
        </p:nvSpPr>
        <p:spPr>
          <a:xfrm>
            <a:off x="3383280" y="2112264"/>
            <a:ext cx="301752" cy="301752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21" name="Text 19"/>
          <p:cNvSpPr/>
          <p:nvPr/>
        </p:nvSpPr>
        <p:spPr>
          <a:xfrm>
            <a:off x="3383280" y="2112264"/>
            <a:ext cx="3017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749040" y="2093976"/>
            <a:ext cx="5166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Unit Number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749040" y="2340864"/>
            <a:ext cx="5166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your unit (e.g. 320). This is required.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483864" y="2423160"/>
            <a:ext cx="18288" cy="36576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5" name="Shape 23"/>
          <p:cNvSpPr/>
          <p:nvPr/>
        </p:nvSpPr>
        <p:spPr>
          <a:xfrm>
            <a:off x="3383280" y="2816352"/>
            <a:ext cx="301752" cy="301752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26" name="Text 24"/>
          <p:cNvSpPr/>
          <p:nvPr/>
        </p:nvSpPr>
        <p:spPr>
          <a:xfrm>
            <a:off x="3383280" y="2816352"/>
            <a:ext cx="3017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749040" y="2798064"/>
            <a:ext cx="5166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Area / Substation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749040" y="3044952"/>
            <a:ext cx="5166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— e.g. "str3000". Helps supervisors find you faster.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483864" y="3127248"/>
            <a:ext cx="18288" cy="36576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30" name="Shape 28"/>
          <p:cNvSpPr/>
          <p:nvPr/>
        </p:nvSpPr>
        <p:spPr>
          <a:xfrm>
            <a:off x="3383280" y="3520440"/>
            <a:ext cx="301752" cy="301752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31" name="Text 29"/>
          <p:cNvSpPr/>
          <p:nvPr/>
        </p:nvSpPr>
        <p:spPr>
          <a:xfrm>
            <a:off x="3383280" y="3520440"/>
            <a:ext cx="3017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3749040" y="3502152"/>
            <a:ext cx="5166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"💾 Save Location"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3749040" y="3749040"/>
            <a:ext cx="5166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green ✓ Saved message confirms the update.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483864" y="3831336"/>
            <a:ext cx="18288" cy="36576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35" name="Shape 33"/>
          <p:cNvSpPr/>
          <p:nvPr/>
        </p:nvSpPr>
        <p:spPr>
          <a:xfrm>
            <a:off x="3383280" y="4224528"/>
            <a:ext cx="301752" cy="301752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36" name="Text 34"/>
          <p:cNvSpPr/>
          <p:nvPr/>
        </p:nvSpPr>
        <p:spPr>
          <a:xfrm>
            <a:off x="3383280" y="4224528"/>
            <a:ext cx="3017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3749040" y="4206240"/>
            <a:ext cx="5166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"Nearest Supervisor"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3749040" y="4453128"/>
            <a:ext cx="5166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page shows you the closest supervisor on site.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82880"/>
            <a:ext cx="8321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👁️  Observations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621792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what you see on site — unsafe acts, unsafe conditions, or positive behaviours.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11480" y="1005840"/>
            <a:ext cx="2606040" cy="1874520"/>
          </a:xfrm>
          <a:prstGeom prst="rect">
            <a:avLst>
              <a:gd name="adj" fmla="val 3902"/>
            </a:avLst>
          </a:prstGeom>
          <a:solidFill>
            <a:srgbClr val="FEF2F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21208" y="1078992"/>
            <a:ext cx="2395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 Unsafe Act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21208" y="1490472"/>
            <a:ext cx="239572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Workers not following safe procedures, improper PPE use, incorrect tool usage.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246120" y="1005840"/>
            <a:ext cx="2606040" cy="1874520"/>
          </a:xfrm>
          <a:prstGeom prst="rect">
            <a:avLst>
              <a:gd name="adj" fmla="val 3902"/>
            </a:avLst>
          </a:prstGeom>
          <a:solidFill>
            <a:srgbClr val="FFF7ED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55848" y="1078992"/>
            <a:ext cx="2395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🔶  Unsafe Condition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355848" y="1490472"/>
            <a:ext cx="239572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Hazardous environments: spills, loose cables, unguarded edges, poor lighting.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080760" y="1005840"/>
            <a:ext cx="2606040" cy="1874520"/>
          </a:xfrm>
          <a:prstGeom prst="rect">
            <a:avLst>
              <a:gd name="adj" fmla="val 3902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90488" y="1078992"/>
            <a:ext cx="2395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Positive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190488" y="1490472"/>
            <a:ext cx="239572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safety practices, workers wearing proper PPE, correct procedures followed.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11480" y="3017520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 Levels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11480" y="3364992"/>
            <a:ext cx="2606040" cy="1572768"/>
          </a:xfrm>
          <a:prstGeom prst="rect">
            <a:avLst>
              <a:gd name="adj" fmla="val 3488"/>
            </a:avLst>
          </a:prstGeom>
          <a:solidFill>
            <a:srgbClr val="FEF2F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1208" y="3438144"/>
            <a:ext cx="23957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 — High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21208" y="3776472"/>
            <a:ext cx="239572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Immediate danger. Requires urgent action. Supervisor notified at once.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246120" y="3364992"/>
            <a:ext cx="2606040" cy="1572768"/>
          </a:xfrm>
          <a:prstGeom prst="rect">
            <a:avLst>
              <a:gd name="adj" fmla="val 3488"/>
            </a:avLst>
          </a:prstGeom>
          <a:solidFill>
            <a:srgbClr val="FFF7ED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355848" y="3438144"/>
            <a:ext cx="23957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 — Medium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355848" y="3776472"/>
            <a:ext cx="239572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Significant hazard. Must be corrected the same day.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080760" y="3364992"/>
            <a:ext cx="2606040" cy="1572768"/>
          </a:xfrm>
          <a:prstGeom prst="rect">
            <a:avLst>
              <a:gd name="adj" fmla="val 3488"/>
            </a:avLst>
          </a:prstGeom>
          <a:solidFill>
            <a:srgbClr val="EFF6FF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190488" y="3438144"/>
            <a:ext cx="23957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 — Low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190488" y="3776472"/>
            <a:ext cx="239572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Minor issue. Plan corrective action within normal timeframe.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82880"/>
            <a:ext cx="8321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to Submit a New Observation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621792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to  Observations  →  click the "+ New Observation" button (top-right).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11480" y="10058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A3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 Fields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11480" y="1353312"/>
            <a:ext cx="3931920" cy="640080"/>
          </a:xfrm>
          <a:prstGeom prst="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1408176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66928" y="165506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Auto-filled with today's date. Change if needed.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11480" y="2057400"/>
            <a:ext cx="3931920" cy="640080"/>
          </a:xfrm>
          <a:prstGeom prst="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112264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235915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your area — suggestions appear as you type.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11480" y="2761488"/>
            <a:ext cx="3931920" cy="640080"/>
          </a:xfrm>
          <a:prstGeom prst="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81635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 Type * *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66928" y="30632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Select: Unsafe Act / Unsafe Condition / Positive.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3337560" y="2816352"/>
            <a:ext cx="777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411480" y="3465576"/>
            <a:ext cx="3931920" cy="640080"/>
          </a:xfrm>
          <a:prstGeom prst="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6928" y="3520440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66928" y="376732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PPE, Excavation, Housekeeping, Work at Height…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11480" y="4169664"/>
            <a:ext cx="3931920" cy="640080"/>
          </a:xfrm>
          <a:prstGeom prst="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66928" y="4224528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Level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66928" y="447141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 = Low  |  M = Medium  |  H = High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663440" y="1005840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A3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Additional Fields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663440" y="1353312"/>
            <a:ext cx="4069080" cy="640080"/>
          </a:xfrm>
          <a:prstGeom prst="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18888" y="1408176"/>
            <a:ext cx="3703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818888" y="1655064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clearly what you saw. Be specific.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663440" y="2057400"/>
            <a:ext cx="4069080" cy="640080"/>
          </a:xfrm>
          <a:prstGeom prst="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818888" y="2112264"/>
            <a:ext cx="3703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Immediate Action Taken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818888" y="2359152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did you do right away to address it?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663440" y="2761488"/>
            <a:ext cx="4069080" cy="640080"/>
          </a:xfrm>
          <a:prstGeom prst="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818888" y="2816352"/>
            <a:ext cx="3703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Photos (up to 3)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818888" y="306324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before/during/after photos as evidence.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411480" y="4663440"/>
            <a:ext cx="8321040" cy="365760"/>
          </a:xfrm>
          <a:prstGeom prst="rect">
            <a:avLst>
              <a:gd name="adj" fmla="val 12500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8640" y="466344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Click "Save Observation" to submit. The observation appears in your list as OPEN. You can close it later once corrective action is completed.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3291840" cy="5143500"/>
          </a:xfrm>
          <a:prstGeom prst="rect">
            <a:avLst/>
          </a:prstGeom>
          <a:solidFill>
            <a:srgbClr val="166534"/>
          </a:solidFill>
          <a:ln/>
        </p:spPr>
      </p:sp>
      <p:sp>
        <p:nvSpPr>
          <p:cNvPr id="4" name="Text 2"/>
          <p:cNvSpPr/>
          <p:nvPr/>
        </p:nvSpPr>
        <p:spPr>
          <a:xfrm>
            <a:off x="182880" y="3200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🔒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82880" y="100584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Closing an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Observation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82880" y="2029968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CF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the hazard is fixed,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DCF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the observation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DCF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CLOSED with proof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DCF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corrective action.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3383280"/>
            <a:ext cx="2743200" cy="384048"/>
          </a:xfrm>
          <a:prstGeom prst="rect">
            <a:avLst>
              <a:gd name="adj" fmla="val 11905"/>
            </a:avLst>
          </a:prstGeom>
          <a:solidFill>
            <a:srgbClr val="DC2626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338328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OPEN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463040" y="3813048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411480" y="4160520"/>
            <a:ext cx="2743200" cy="384048"/>
          </a:xfrm>
          <a:prstGeom prst="rect">
            <a:avLst>
              <a:gd name="adj" fmla="val 11905"/>
            </a:avLst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411480" y="416052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CLOSED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520440" y="201168"/>
            <a:ext cx="5349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Steps to Close an Observation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3520440" y="713232"/>
            <a:ext cx="292608" cy="292608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3520440" y="7132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877056" y="685800"/>
            <a:ext cx="4983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Observations List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877056" y="932688"/>
            <a:ext cx="4983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"Observations" in the top menu.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21024" y="1014984"/>
            <a:ext cx="18288" cy="36576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8" name="Shape 16"/>
          <p:cNvSpPr/>
          <p:nvPr/>
        </p:nvSpPr>
        <p:spPr>
          <a:xfrm>
            <a:off x="3520440" y="1417320"/>
            <a:ext cx="292608" cy="292608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19" name="Text 17"/>
          <p:cNvSpPr/>
          <p:nvPr/>
        </p:nvSpPr>
        <p:spPr>
          <a:xfrm>
            <a:off x="3520440" y="14173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877056" y="1389888"/>
            <a:ext cx="4983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the Open Item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877056" y="1636776"/>
            <a:ext cx="4983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for the red "● OPEN" badge. Filter by "Open" if needed.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621024" y="1719072"/>
            <a:ext cx="18288" cy="36576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3" name="Shape 21"/>
          <p:cNvSpPr/>
          <p:nvPr/>
        </p:nvSpPr>
        <p:spPr>
          <a:xfrm>
            <a:off x="3520440" y="2121408"/>
            <a:ext cx="292608" cy="292608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24" name="Text 22"/>
          <p:cNvSpPr/>
          <p:nvPr/>
        </p:nvSpPr>
        <p:spPr>
          <a:xfrm>
            <a:off x="3520440" y="2121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877056" y="2093976"/>
            <a:ext cx="4983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"Close This Observation"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3877056" y="2340864"/>
            <a:ext cx="4983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Button appears at the bottom of each open observation card.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621024" y="2423160"/>
            <a:ext cx="18288" cy="36576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8" name="Shape 26"/>
          <p:cNvSpPr/>
          <p:nvPr/>
        </p:nvSpPr>
        <p:spPr>
          <a:xfrm>
            <a:off x="3520440" y="2825496"/>
            <a:ext cx="292608" cy="292608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29" name="Text 27"/>
          <p:cNvSpPr/>
          <p:nvPr/>
        </p:nvSpPr>
        <p:spPr>
          <a:xfrm>
            <a:off x="3520440" y="28254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3877056" y="2798064"/>
            <a:ext cx="4983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Closure Action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3877056" y="3044952"/>
            <a:ext cx="4983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what was done to resolve the issue (required).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3621024" y="3127248"/>
            <a:ext cx="18288" cy="36576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33" name="Shape 31"/>
          <p:cNvSpPr/>
          <p:nvPr/>
        </p:nvSpPr>
        <p:spPr>
          <a:xfrm>
            <a:off x="3520440" y="3529584"/>
            <a:ext cx="292608" cy="292608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34" name="Text 32"/>
          <p:cNvSpPr/>
          <p:nvPr/>
        </p:nvSpPr>
        <p:spPr>
          <a:xfrm>
            <a:off x="3520440" y="352958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3877056" y="3502152"/>
            <a:ext cx="4983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Closure Photo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3877056" y="3749040"/>
            <a:ext cx="4983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a photo of the corrected situation as evidence (optional).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621024" y="3831336"/>
            <a:ext cx="18288" cy="36576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38" name="Shape 36"/>
          <p:cNvSpPr/>
          <p:nvPr/>
        </p:nvSpPr>
        <p:spPr>
          <a:xfrm>
            <a:off x="3520440" y="4233672"/>
            <a:ext cx="292608" cy="292608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39" name="Text 37"/>
          <p:cNvSpPr/>
          <p:nvPr/>
        </p:nvSpPr>
        <p:spPr>
          <a:xfrm>
            <a:off x="3520440" y="42336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3877056" y="4206240"/>
            <a:ext cx="4983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3877056" y="4453128"/>
            <a:ext cx="4983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observation status changes to CLOSED with a timestamp.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3200400" cy="5143500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4" name="Text 2"/>
          <p:cNvSpPr/>
          <p:nvPr/>
        </p:nvSpPr>
        <p:spPr>
          <a:xfrm>
            <a:off x="182880" y="32004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</a:rPr>
              <a:t>📄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82880" y="100584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JSO</a:t>
            </a:r>
            <a:endParaRPr lang="en-US" sz="2600" dirty="0"/>
          </a:p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Closure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82880" y="1938528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CF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to JSO in the top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DCF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— click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DCF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"+ New JSO Closure"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82880" y="2926080"/>
            <a:ext cx="2834640" cy="2011680"/>
          </a:xfrm>
          <a:prstGeom prst="rect">
            <a:avLst>
              <a:gd name="adj" fmla="val 2727"/>
            </a:avLst>
          </a:prstGeom>
          <a:solidFill>
            <a:srgbClr val="F59E0B"/>
          </a:solidFill>
          <a:ln/>
        </p:spPr>
      </p:sp>
      <p:sp>
        <p:nvSpPr>
          <p:cNvPr id="8" name="Text 6"/>
          <p:cNvSpPr/>
          <p:nvPr/>
        </p:nvSpPr>
        <p:spPr>
          <a:xfrm>
            <a:off x="182880" y="2926080"/>
            <a:ext cx="2834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JSO must have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unique JSO number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traceability.</a:t>
            </a:r>
            <a:endParaRPr lang="en-US" sz="1050" dirty="0"/>
          </a:p>
          <a:p>
            <a:pPr algn="ctr" indent="0" marL="0">
              <a:buNone/>
            </a:pP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 of evidence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highly recommended.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429000" y="201168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to Submit a JSO Closure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3429000" y="713232"/>
            <a:ext cx="292608" cy="292608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3429000" y="7132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785616" y="685800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"+ New JSO Closure"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785616" y="914400"/>
            <a:ext cx="5074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Top-right button on the JSO Closures list page.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529584" y="1014984"/>
            <a:ext cx="18288" cy="30175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5" name="Shape 13"/>
          <p:cNvSpPr/>
          <p:nvPr/>
        </p:nvSpPr>
        <p:spPr>
          <a:xfrm>
            <a:off x="3429000" y="1335024"/>
            <a:ext cx="292608" cy="292608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16" name="Text 14"/>
          <p:cNvSpPr/>
          <p:nvPr/>
        </p:nvSpPr>
        <p:spPr>
          <a:xfrm>
            <a:off x="3429000" y="133502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785616" y="1307592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JSO Number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785616" y="1536192"/>
            <a:ext cx="5074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the number from the paper JSO form (e.g. JSO-2024-001). Required.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529584" y="1636776"/>
            <a:ext cx="18288" cy="30175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0" name="Shape 18"/>
          <p:cNvSpPr/>
          <p:nvPr/>
        </p:nvSpPr>
        <p:spPr>
          <a:xfrm>
            <a:off x="3429000" y="1956816"/>
            <a:ext cx="292608" cy="292608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21" name="Text 19"/>
          <p:cNvSpPr/>
          <p:nvPr/>
        </p:nvSpPr>
        <p:spPr>
          <a:xfrm>
            <a:off x="3429000" y="19568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785616" y="1929384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Date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785616" y="2157984"/>
            <a:ext cx="5074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Auto-fills with today's date. Change it if the JSO was closed on a different day.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529584" y="2258568"/>
            <a:ext cx="18288" cy="30175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5" name="Shape 23"/>
          <p:cNvSpPr/>
          <p:nvPr/>
        </p:nvSpPr>
        <p:spPr>
          <a:xfrm>
            <a:off x="3429000" y="2578608"/>
            <a:ext cx="292608" cy="292608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26" name="Text 24"/>
          <p:cNvSpPr/>
          <p:nvPr/>
        </p:nvSpPr>
        <p:spPr>
          <a:xfrm>
            <a:off x="3429000" y="25786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785616" y="2551176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Location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785616" y="2779776"/>
            <a:ext cx="5074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the site area where the JSO was carried out. Suggestions appear as you type.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529584" y="2880360"/>
            <a:ext cx="18288" cy="30175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30" name="Shape 28"/>
          <p:cNvSpPr/>
          <p:nvPr/>
        </p:nvSpPr>
        <p:spPr>
          <a:xfrm>
            <a:off x="3429000" y="3200400"/>
            <a:ext cx="292608" cy="292608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31" name="Text 29"/>
          <p:cNvSpPr/>
          <p:nvPr/>
        </p:nvSpPr>
        <p:spPr>
          <a:xfrm>
            <a:off x="3429000" y="32004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3785616" y="31729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Action Taken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3785616" y="3401568"/>
            <a:ext cx="5074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clearly what was done to resolve the identified hazard.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529584" y="3502152"/>
            <a:ext cx="18288" cy="30175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35" name="Shape 33"/>
          <p:cNvSpPr/>
          <p:nvPr/>
        </p:nvSpPr>
        <p:spPr>
          <a:xfrm>
            <a:off x="3429000" y="3822192"/>
            <a:ext cx="292608" cy="292608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36" name="Text 34"/>
          <p:cNvSpPr/>
          <p:nvPr/>
        </p:nvSpPr>
        <p:spPr>
          <a:xfrm>
            <a:off x="3429000" y="38221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3785616" y="3794760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Evidence Photo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3785616" y="4023360"/>
            <a:ext cx="5074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a photo showing the corrected situation and upload it as proof.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529584" y="4123944"/>
            <a:ext cx="18288" cy="30175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40" name="Shape 38"/>
          <p:cNvSpPr/>
          <p:nvPr/>
        </p:nvSpPr>
        <p:spPr>
          <a:xfrm>
            <a:off x="3429000" y="4443984"/>
            <a:ext cx="292608" cy="292608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41" name="Text 39"/>
          <p:cNvSpPr/>
          <p:nvPr/>
        </p:nvSpPr>
        <p:spPr>
          <a:xfrm>
            <a:off x="3429000" y="444398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3785616" y="4416552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"Save"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3785616" y="4645152"/>
            <a:ext cx="5074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record is saved and appears in your JSO Closures list.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82880"/>
            <a:ext cx="8321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💬  Toolbox Talk (TBT)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621792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Toolbox Talk is a short daily safety briefing held before work starts. Record every TBT you conduct.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11480" y="10058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C3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 Fields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11480" y="1353312"/>
            <a:ext cx="3931920" cy="731520"/>
          </a:xfrm>
          <a:prstGeom prst="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1417320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66928" y="167335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Auto-filled with today's date.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11480" y="2157984"/>
            <a:ext cx="3931920" cy="731520"/>
          </a:xfrm>
          <a:prstGeom prst="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22199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* *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2478024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safety subject discussed (e.g. "Hand Safety", "Hot Work Hazards").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337560" y="2221992"/>
            <a:ext cx="777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411480" y="2962656"/>
            <a:ext cx="3931920" cy="731520"/>
          </a:xfrm>
          <a:prstGeom prst="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3026664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66928" y="3282696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 area where the TBT was held.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11480" y="3767328"/>
            <a:ext cx="3931920" cy="731520"/>
          </a:xfrm>
          <a:prstGeom prst="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6928" y="3831336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 Code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66928" y="4087368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the supervisor's code and click Lookup to link them.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663440" y="1005840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C3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Attendance Section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1353312"/>
            <a:ext cx="4069080" cy="731520"/>
          </a:xfrm>
          <a:prstGeom prst="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18888" y="1417320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Employees Button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818888" y="1673352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supervisor lookup — auto-loads all employees under that supervisor.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663440" y="2157984"/>
            <a:ext cx="4069080" cy="731520"/>
          </a:xfrm>
          <a:prstGeom prst="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18888" y="2221992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Badge Number + Add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818888" y="2478024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each attendee's badge number and click Add. Name fills automatically.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663440" y="2962656"/>
            <a:ext cx="4069080" cy="731520"/>
          </a:xfrm>
          <a:prstGeom prst="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818888" y="3026664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Sign-in Sheet Photo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818888" y="3282696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a photo of the signed attendance paper for records.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11480" y="4645152"/>
            <a:ext cx="8321040" cy="384048"/>
          </a:xfrm>
          <a:prstGeom prst="rect">
            <a:avLst>
              <a:gd name="adj" fmla="val 11905"/>
            </a:avLst>
          </a:prstGeom>
          <a:solidFill>
            <a:srgbClr val="F5F3FF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8640" y="4645152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2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Tip: Use "Load Employees" after entering the supervisor code — it auto-fills all workers under that supervisor into the attendance list instantly.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3291840" cy="5143500"/>
          </a:xfrm>
          <a:prstGeom prst="rect">
            <a:avLst/>
          </a:prstGeom>
          <a:solidFill>
            <a:srgbClr val="4C1D95"/>
          </a:solidFill>
          <a:ln/>
        </p:spPr>
      </p:sp>
      <p:sp>
        <p:nvSpPr>
          <p:cNvPr id="4" name="Text 2"/>
          <p:cNvSpPr/>
          <p:nvPr/>
        </p:nvSpPr>
        <p:spPr>
          <a:xfrm>
            <a:off x="182880" y="3200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💬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82880" y="100584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Creating a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New TBT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82880" y="192024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DD6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to  TBT  in the top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DDD6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→  click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DDD6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"+ New TBT"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82880" y="2834640"/>
            <a:ext cx="2926080" cy="2103120"/>
          </a:xfrm>
          <a:prstGeom prst="rect">
            <a:avLst>
              <a:gd name="adj" fmla="val 2609"/>
            </a:avLst>
          </a:prstGeom>
          <a:solidFill>
            <a:srgbClr val="6D28D9"/>
          </a:solidFill>
          <a:ln/>
        </p:spPr>
      </p:sp>
      <p:sp>
        <p:nvSpPr>
          <p:cNvPr id="8" name="Text 6"/>
          <p:cNvSpPr/>
          <p:nvPr/>
        </p:nvSpPr>
        <p:spPr>
          <a:xfrm>
            <a:off x="182880" y="290779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9E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Rules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92608" y="3218688"/>
            <a:ext cx="270662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DD6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Topic is the only required field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DD6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Each badge number is verified against the employee database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DD6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Attendee list is saved with the record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DD6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You can edit or delete a TBT later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520440" y="201168"/>
            <a:ext cx="5349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Step-by-Step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520440" y="694944"/>
            <a:ext cx="274320" cy="27432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12" name="Text 10"/>
          <p:cNvSpPr/>
          <p:nvPr/>
        </p:nvSpPr>
        <p:spPr>
          <a:xfrm>
            <a:off x="3520440" y="69494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858768" y="667512"/>
            <a:ext cx="5010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"+ New TBT"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858768" y="886968"/>
            <a:ext cx="5010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Top-right button on the TBT list page.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3621024" y="978408"/>
            <a:ext cx="18288" cy="31089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6" name="Shape 14"/>
          <p:cNvSpPr/>
          <p:nvPr/>
        </p:nvSpPr>
        <p:spPr>
          <a:xfrm>
            <a:off x="3520440" y="1307592"/>
            <a:ext cx="274320" cy="27432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17" name="Text 15"/>
          <p:cNvSpPr/>
          <p:nvPr/>
        </p:nvSpPr>
        <p:spPr>
          <a:xfrm>
            <a:off x="3520440" y="13075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858768" y="1280160"/>
            <a:ext cx="5010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Topic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858768" y="1499616"/>
            <a:ext cx="5010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 "PPE Compliance", "Excavation Safety". This is required.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621024" y="1591056"/>
            <a:ext cx="18288" cy="31089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1" name="Shape 19"/>
          <p:cNvSpPr/>
          <p:nvPr/>
        </p:nvSpPr>
        <p:spPr>
          <a:xfrm>
            <a:off x="3520440" y="1920240"/>
            <a:ext cx="274320" cy="27432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22" name="Text 20"/>
          <p:cNvSpPr/>
          <p:nvPr/>
        </p:nvSpPr>
        <p:spPr>
          <a:xfrm>
            <a:off x="3520440" y="1920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858768" y="1892808"/>
            <a:ext cx="5010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Date &amp; Location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858768" y="2112264"/>
            <a:ext cx="5010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 defaults to today. Type the site area in Location.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621024" y="2203704"/>
            <a:ext cx="18288" cy="31089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6" name="Shape 24"/>
          <p:cNvSpPr/>
          <p:nvPr/>
        </p:nvSpPr>
        <p:spPr>
          <a:xfrm>
            <a:off x="3520440" y="2532888"/>
            <a:ext cx="274320" cy="27432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27" name="Text 25"/>
          <p:cNvSpPr/>
          <p:nvPr/>
        </p:nvSpPr>
        <p:spPr>
          <a:xfrm>
            <a:off x="3520440" y="25328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3858768" y="2505456"/>
            <a:ext cx="5010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Supervisor Code (opt.)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3858768" y="2724912"/>
            <a:ext cx="5010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Lookup → name appears. Then click "Load Employees" to auto-fill attendees.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621024" y="2816352"/>
            <a:ext cx="18288" cy="31089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31" name="Shape 29"/>
          <p:cNvSpPr/>
          <p:nvPr/>
        </p:nvSpPr>
        <p:spPr>
          <a:xfrm>
            <a:off x="3520440" y="3145536"/>
            <a:ext cx="274320" cy="27432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32" name="Text 30"/>
          <p:cNvSpPr/>
          <p:nvPr/>
        </p:nvSpPr>
        <p:spPr>
          <a:xfrm>
            <a:off x="3520440" y="31455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3858768" y="3118104"/>
            <a:ext cx="5010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Attendees Manually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3858768" y="3337560"/>
            <a:ext cx="5010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each badge number → click Add. The employee name loads from the system.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3621024" y="3429000"/>
            <a:ext cx="18288" cy="31089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36" name="Shape 34"/>
          <p:cNvSpPr/>
          <p:nvPr/>
        </p:nvSpPr>
        <p:spPr>
          <a:xfrm>
            <a:off x="3520440" y="3758184"/>
            <a:ext cx="274320" cy="27432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37" name="Text 35"/>
          <p:cNvSpPr/>
          <p:nvPr/>
        </p:nvSpPr>
        <p:spPr>
          <a:xfrm>
            <a:off x="3520440" y="37581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3858768" y="3730752"/>
            <a:ext cx="5010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Sign-in Sheet Photo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3858768" y="3950208"/>
            <a:ext cx="5010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but recommended — photograph the signed attendance paper.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3621024" y="4041648"/>
            <a:ext cx="18288" cy="31089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41" name="Shape 39"/>
          <p:cNvSpPr/>
          <p:nvPr/>
        </p:nvSpPr>
        <p:spPr>
          <a:xfrm>
            <a:off x="3520440" y="4370832"/>
            <a:ext cx="274320" cy="27432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42" name="Text 40"/>
          <p:cNvSpPr/>
          <p:nvPr/>
        </p:nvSpPr>
        <p:spPr>
          <a:xfrm>
            <a:off x="3520440" y="437083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3858768" y="4343400"/>
            <a:ext cx="5010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"Save TBT"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3858768" y="4562856"/>
            <a:ext cx="5010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record appears in your TBT list with attendee count shown.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0"/>
            <a:ext cx="8321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Quick Reference — Safety Officer Daily Checklist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320040" y="868680"/>
            <a:ext cx="1993392" cy="4133088"/>
          </a:xfrm>
          <a:prstGeom prst="rect">
            <a:avLst>
              <a:gd name="adj" fmla="val 3670"/>
            </a:avLst>
          </a:prstGeom>
          <a:solidFill>
            <a:srgbClr val="166534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29768" y="960120"/>
            <a:ext cx="17739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📍  Location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29768" y="1344168"/>
            <a:ext cx="1773936" cy="1828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8" name="Text 6"/>
          <p:cNvSpPr/>
          <p:nvPr/>
        </p:nvSpPr>
        <p:spPr>
          <a:xfrm>
            <a:off x="429768" y="1435608"/>
            <a:ext cx="17739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CF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Select PKG 2 or PKG 3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29768" y="1929384"/>
            <a:ext cx="17739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CF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Enter your Unit number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29768" y="2423160"/>
            <a:ext cx="17739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CF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Enter Area (optional)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29768" y="2916936"/>
            <a:ext cx="17739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CF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Click Save Location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29768" y="3410712"/>
            <a:ext cx="17739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CF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nearest supervisor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404872" y="868680"/>
            <a:ext cx="1993392" cy="4133088"/>
          </a:xfrm>
          <a:prstGeom prst="rect">
            <a:avLst>
              <a:gd name="adj" fmla="val 3670"/>
            </a:avLst>
          </a:prstGeom>
          <a:solidFill>
            <a:srgbClr val="166534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514600" y="960120"/>
            <a:ext cx="17739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0A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👁️  Observation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2514600" y="1344168"/>
            <a:ext cx="1773936" cy="18288"/>
          </a:xfrm>
          <a:prstGeom prst="rect">
            <a:avLst/>
          </a:prstGeom>
          <a:solidFill>
            <a:srgbClr val="60A5FA"/>
          </a:solidFill>
          <a:ln/>
        </p:spPr>
      </p:sp>
      <p:sp>
        <p:nvSpPr>
          <p:cNvPr id="16" name="Text 14"/>
          <p:cNvSpPr/>
          <p:nvPr/>
        </p:nvSpPr>
        <p:spPr>
          <a:xfrm>
            <a:off x="2514600" y="1435608"/>
            <a:ext cx="17739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CF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Choose type (Unsafe Act / Condition / Positive)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514600" y="1929384"/>
            <a:ext cx="17739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CF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Set risk level (L / M / H)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514600" y="2423160"/>
            <a:ext cx="17739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CF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Write clear description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514600" y="2916936"/>
            <a:ext cx="17739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CF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Note immediate action taken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514600" y="3410712"/>
            <a:ext cx="17739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CF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Attach photo if possible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2514600" y="3904488"/>
            <a:ext cx="17739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CF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Close open items when resolved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489704" y="868680"/>
            <a:ext cx="1993392" cy="4133088"/>
          </a:xfrm>
          <a:prstGeom prst="rect">
            <a:avLst>
              <a:gd name="adj" fmla="val 3670"/>
            </a:avLst>
          </a:prstGeom>
          <a:solidFill>
            <a:srgbClr val="166534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99432" y="960120"/>
            <a:ext cx="17739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ADE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📄  JSO Closure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599432" y="1344168"/>
            <a:ext cx="1773936" cy="18288"/>
          </a:xfrm>
          <a:prstGeom prst="rect">
            <a:avLst/>
          </a:prstGeom>
          <a:solidFill>
            <a:srgbClr val="4ADE80"/>
          </a:solidFill>
          <a:ln/>
        </p:spPr>
      </p:sp>
      <p:sp>
        <p:nvSpPr>
          <p:cNvPr id="25" name="Text 23"/>
          <p:cNvSpPr/>
          <p:nvPr/>
        </p:nvSpPr>
        <p:spPr>
          <a:xfrm>
            <a:off x="4599432" y="1435608"/>
            <a:ext cx="17739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CF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Enter JSO number (required)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599432" y="1929384"/>
            <a:ext cx="17739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CF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Set date &amp; location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599432" y="2423160"/>
            <a:ext cx="17739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CF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Describe action taken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599432" y="2916936"/>
            <a:ext cx="17739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CF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Upload evidence photo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599432" y="3410712"/>
            <a:ext cx="17739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CF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Save the record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574536" y="868680"/>
            <a:ext cx="2240280" cy="4133088"/>
          </a:xfrm>
          <a:prstGeom prst="rect">
            <a:avLst>
              <a:gd name="adj" fmla="val 3265"/>
            </a:avLst>
          </a:prstGeom>
          <a:solidFill>
            <a:srgbClr val="166534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84264" y="960120"/>
            <a:ext cx="20208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4B5F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💬  TBT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6684264" y="1344168"/>
            <a:ext cx="2020824" cy="18288"/>
          </a:xfrm>
          <a:prstGeom prst="rect">
            <a:avLst/>
          </a:prstGeom>
          <a:solidFill>
            <a:srgbClr val="C4B5FD"/>
          </a:solidFill>
          <a:ln/>
        </p:spPr>
      </p:sp>
      <p:sp>
        <p:nvSpPr>
          <p:cNvPr id="33" name="Text 31"/>
          <p:cNvSpPr/>
          <p:nvPr/>
        </p:nvSpPr>
        <p:spPr>
          <a:xfrm>
            <a:off x="6684264" y="1435608"/>
            <a:ext cx="2020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CF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Enter TBT topic (required)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684264" y="1929384"/>
            <a:ext cx="2020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CF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Set date &amp; location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684264" y="2423160"/>
            <a:ext cx="2020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CF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Look up supervisor (optional)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684264" y="2916936"/>
            <a:ext cx="2020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CF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Load employees auto-fill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684264" y="3410712"/>
            <a:ext cx="2020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CF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Add badges manually if needed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684264" y="3904488"/>
            <a:ext cx="2020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CF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Upload sign-in sheet photo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6684264" y="4398264"/>
            <a:ext cx="2020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CF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Save TBT record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320040" y="4846320"/>
            <a:ext cx="8503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CF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NSH System  —  Safety Officer Guide  |  For internal use only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2026-08-12T09:04:18Z</dcterms:created>
  <dcterms:modified xsi:type="dcterms:W3CDTF">2026-08-12T09:04:18Z</dcterms:modified>
</cp:coreProperties>
</file>